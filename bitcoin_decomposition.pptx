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79" r:id="rId30"/>
    <p:sldId id="280" r:id="rId31"/>
    <p:sldId id="281" r:id="rId32"/>
    <p:sldId id="282" r:id="rId33"/>
    <p:sldId id="272" r:id="rId23"/>
    <p:sldId id="273" r:id="rId24"/>
    <p:sldId id="274" r:id="rId25"/>
    <p:sldId id="276" r:id="rId27"/>
    <p:sldId id="296" r:id="rId47"/>
    <p:sldId id="297" r:id="rId48"/>
    <p:sldId id="298" r:id="rId49"/>
    <p:sldId id="277" r:id="rId28"/>
    <p:sldId id="278" r:id="rId29"/>
    <p:sldId id="275" r:id="rId26"/>
    <p:sldId id="283" r:id="rId34"/>
    <p:sldId id="284" r:id="rId35"/>
    <p:sldId id="285" r:id="rId36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19.xml"/><Relationship Id="rId10" Type="http://schemas.openxmlformats.org/officeDocument/2006/relationships/slide" Target="slides/slide20.xml"/><Relationship Id="rId11" Type="http://schemas.openxmlformats.org/officeDocument/2006/relationships/slide" Target="slides/slide21.xml"/><Relationship Id="rId12" Type="http://schemas.openxmlformats.org/officeDocument/2006/relationships/slide" Target="slides/slide22.xml"/><Relationship Id="rId13" Type="http://schemas.openxmlformats.org/officeDocument/2006/relationships/slide" Target="slides/slide23.xml"/><Relationship Id="rId14" Type="http://schemas.openxmlformats.org/officeDocument/2006/relationships/slide" Target="slides/slide24.xml"/><Relationship Id="rId15" Type="http://schemas.openxmlformats.org/officeDocument/2006/relationships/slide" Target="slides/slide25.xml"/><Relationship Id="rId16" Type="http://schemas.openxmlformats.org/officeDocument/2006/relationships/slide" Target="slides/slide26.xml"/><Relationship Id="rId17" Type="http://schemas.openxmlformats.org/officeDocument/2006/relationships/slide" Target="slides/slide27.xml"/><Relationship Id="rId18" Type="http://schemas.openxmlformats.org/officeDocument/2006/relationships/slide" Target="slides/slide28.xml"/><Relationship Id="rId19" Type="http://schemas.openxmlformats.org/officeDocument/2006/relationships/slide" Target="slides/slide29.xml"/><Relationship Id="rId20" Type="http://schemas.openxmlformats.org/officeDocument/2006/relationships/slide" Target="slides/slide30.xml"/><Relationship Id="rId21" Type="http://schemas.openxmlformats.org/officeDocument/2006/relationships/slide" Target="slides/slide31.xml"/><Relationship Id="rId22" Type="http://schemas.openxmlformats.org/officeDocument/2006/relationships/slide" Target="slides/slide32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5.xml"/><Relationship Id="rId27" Type="http://schemas.openxmlformats.org/officeDocument/2006/relationships/slide" Target="slides/slide10.xml"/><Relationship Id="rId28" Type="http://schemas.openxmlformats.org/officeDocument/2006/relationships/slide" Target="slides/slide13.xml"/><Relationship Id="rId29" Type="http://schemas.openxmlformats.org/officeDocument/2006/relationships/slide" Target="slides/slide14.xml"/><Relationship Id="rId30" Type="http://schemas.openxmlformats.org/officeDocument/2006/relationships/slide" Target="slides/slide3.xml"/><Relationship Id="rId31" Type="http://schemas.openxmlformats.org/officeDocument/2006/relationships/slide" Target="slides/slide4.xml"/><Relationship Id="rId32" Type="http://schemas.openxmlformats.org/officeDocument/2006/relationships/slide" Target="slides/slide5.xml"/><Relationship Id="rId33" Type="http://schemas.openxmlformats.org/officeDocument/2006/relationships/slide" Target="slides/slide6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11.xml"/><Relationship Id="rId48" Type="http://schemas.openxmlformats.org/officeDocument/2006/relationships/slide" Target="slides/slide1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45720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EEEEE"/>
                </a:solidFill>
                <a:latin typeface="Calibri"/>
              </a:defRPr>
            </a:pPr>
            <a:r>
              <a:t>Decomposing Bitcoin:</a:t>
            </a:r>
            <a:br/>
            <a:r>
              <a:t>Power Laws, Entropy, and the</a:t>
            </a:r>
            <a:br/>
            <a:r>
              <a:t>End of Speculative Oscillations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888888"/>
                </a:solidFill>
                <a:latin typeface="Calibri"/>
              </a:defRPr>
            </a:pPr>
            <a:r>
              <a:t>Quantoshi Research  ·  April 2026  ·  quantoshi.xyz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888888"/>
                </a:solidFill>
                <a:latin typeface="Calibri"/>
              </a:defRPr>
            </a:pPr>
            <a:r>
              <a:t>A multi-method investigation into the mathematical structure of Bitcoin price dynamics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The Power Law Foundation</a:t>
            </a:r>
          </a:p>
        </p:txBody>
      </p:sp>
      <p:pic>
        <p:nvPicPr>
          <p:cNvPr id="4" name="Picture 3" descr="price_powerl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4745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log₁₀(price) = α + β·log₁₀(t),  β ≈ 5.08,  R² = 0.963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Genesis date sweep: R² peaks sharply at July 2009 — the statistically optimal time origin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Exponent stable across 30+ model variants: β ∈ [4.9, 5.2]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Why the Choice of t=0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700" b="0">
                <a:solidFill>
                  <a:srgbClr val="EEEEEE"/>
                </a:solidFill>
                <a:latin typeface="Calibri"/>
              </a:defRPr>
            </a:pPr>
            <a:r>
              <a:t>The power law exponent β changes dramatically with genesis date.</a:t>
            </a:r>
          </a:p>
          <a:p>
            <a:pPr>
              <a:defRPr sz="1700" b="0">
                <a:solidFill>
                  <a:srgbClr val="EEEEEE"/>
                </a:solidFill>
                <a:latin typeface="Calibri"/>
              </a:defRPr>
            </a:pPr>
            <a:r>
              <a:t>Choosing the wrong origin gives the wrong growth rate — and the wrong projections.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286000"/>
          <a:ext cx="85039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114800"/>
                <a:gridCol w="1371600"/>
                <a:gridCol w="1371600"/>
              </a:tblGrid>
              <a:tr h="418011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7931A"/>
                          </a:solidFill>
                          <a:latin typeface="Calibri"/>
                        </a:defRPr>
                      </a:pPr>
                      <a:r>
                        <a:t>Date</a:t>
                      </a:r>
                    </a:p>
                  </a:txBody>
                  <a:tcPr>
                    <a:solidFill>
                      <a:srgbClr val="0F15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7931A"/>
                          </a:solidFill>
                          <a:latin typeface="Calibri"/>
                        </a:defRPr>
                      </a:pPr>
                      <a:r>
                        <a:t>Event</a:t>
                      </a:r>
                    </a:p>
                  </a:txBody>
                  <a:tcPr>
                    <a:solidFill>
                      <a:srgbClr val="0F15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7931A"/>
                          </a:solidFill>
                          <a:latin typeface="Calibri"/>
                        </a:defRPr>
                      </a:pPr>
                      <a:r>
                        <a:t>Slope β</a:t>
                      </a:r>
                    </a:p>
                  </a:txBody>
                  <a:tcPr>
                    <a:solidFill>
                      <a:srgbClr val="0F15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7931A"/>
                          </a:solidFill>
                          <a:latin typeface="Calibri"/>
                        </a:defRPr>
                      </a:pPr>
                      <a:r>
                        <a:t>R²</a:t>
                      </a:r>
                    </a:p>
                  </a:txBody>
                  <a:tcPr>
                    <a:solidFill>
                      <a:srgbClr val="0F152A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Jan 3, 2009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Genesis block mined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5.69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0.9615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Jan 9, 2009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Bitcoin v0.1 released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5.68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0.9616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ECC71"/>
                          </a:solidFill>
                          <a:latin typeface="Calibri"/>
                        </a:defRPr>
                      </a:pPr>
                      <a:r>
                        <a:t>Jul 25, 2009</a:t>
                      </a:r>
                    </a:p>
                  </a:txBody>
                  <a:tcPr>
                    <a:solidFill>
                      <a:srgbClr val="152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ECC71"/>
                          </a:solidFill>
                          <a:latin typeface="Calibri"/>
                        </a:defRPr>
                      </a:pPr>
                      <a:r>
                        <a:t>Optimal (see below)</a:t>
                      </a:r>
                    </a:p>
                  </a:txBody>
                  <a:tcPr>
                    <a:solidFill>
                      <a:srgbClr val="152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ECC71"/>
                          </a:solidFill>
                          <a:latin typeface="Calibri"/>
                        </a:defRPr>
                      </a:pPr>
                      <a:r>
                        <a:t>5.08</a:t>
                      </a:r>
                    </a:p>
                  </a:txBody>
                  <a:tcPr>
                    <a:solidFill>
                      <a:srgbClr val="152A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ECC71"/>
                          </a:solidFill>
                          <a:latin typeface="Calibri"/>
                        </a:defRPr>
                      </a:pPr>
                      <a:r>
                        <a:t>0.9630</a:t>
                      </a:r>
                    </a:p>
                  </a:txBody>
                  <a:tcPr>
                    <a:solidFill>
                      <a:srgbClr val="152A1A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Nov 18, 2009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Power law: 1 block reward = $0.01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4.69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0.9620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Apr 2, 2010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Power law: 1 BTC = $0.01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4.23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0.9521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Aug 24, 2010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Power law: 1 BTC = $0.10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3.85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EEEEE"/>
                          </a:solidFill>
                          <a:latin typeface="Calibri"/>
                        </a:defRPr>
                      </a:pPr>
                      <a:r>
                        <a:t>0.9324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371600" y="53949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Using the Genesis block date (Jan 3) gives β=5.69 → 12% steeper than optimal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Using MtGox opening (Jul 2010) gives β≈3.9 → 23% flatter than optimal</a:t>
            </a: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The "right" β≈5.08 only emerges at the statistically optimal origin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This is why we swept 546 candidate dates with 7 independent statistical tests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Wrong Genesis = Wrong Projections</a:t>
            </a:r>
          </a:p>
        </p:txBody>
      </p:sp>
      <p:pic>
        <p:nvPicPr>
          <p:cNvPr id="4" name="Picture 3" descr="genesis_qr_compari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6400800" cy="31654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09728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500" b="1">
                <a:solidFill>
                  <a:srgbClr val="EEEEEE"/>
                </a:solidFill>
                <a:latin typeface="Calibri"/>
              </a:defRPr>
            </a:pPr>
            <a:r>
              <a:t>Same regression coefficients,</a:t>
            </a:r>
          </a:p>
          <a:p>
            <a:pPr>
              <a:defRPr sz="1500" b="1">
                <a:solidFill>
                  <a:srgbClr val="EEEEEE"/>
                </a:solidFill>
                <a:latin typeface="Calibri"/>
              </a:defRPr>
            </a:pPr>
            <a:r>
              <a:t>different time origin →</a:t>
            </a:r>
          </a:p>
          <a:p>
            <a:pPr>
              <a:defRPr sz="1500" b="1">
                <a:solidFill>
                  <a:srgbClr val="EEEEEE"/>
                </a:solidFill>
                <a:latin typeface="Calibri"/>
              </a:defRPr>
            </a:pPr>
            <a:r>
              <a:t>visibly different fits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Orange circle: earliest prices</a:t>
            </a: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sit farther from regression</a:t>
            </a: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when origin is wrong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Q50% crosses $1M: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  Genesis block origin: Aug 2034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  Optimal origin: Mar 2035</a:t>
            </a: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  → 7 month difference!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The choice of Day Zero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propagates into every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projection the model makes.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The Power Law Spans the Entire Price Distribution</a:t>
            </a:r>
          </a:p>
        </p:txBody>
      </p:sp>
      <p:pic>
        <p:nvPicPr>
          <p:cNvPr id="4" name="Picture 3" descr="floor_to_pea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6858000" cy="3949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09728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34 equal-width bins</a:t>
            </a: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in log₁₀(t)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1">
                <a:solidFill>
                  <a:srgbClr val="F7931A"/>
                </a:solidFill>
                <a:latin typeface="Calibri"/>
              </a:defRPr>
            </a:pPr>
            <a:r>
              <a:t>Percentile    β      R²</a:t>
            </a:r>
          </a:p>
          <a:p>
            <a:pPr>
              <a:defRPr sz="1100" b="0">
                <a:solidFill>
                  <a:srgbClr val="888888"/>
                </a:solidFill>
                <a:latin typeface="Calibri"/>
              </a:defRPr>
            </a:pPr>
            <a:r>
              <a:t>──────────────────</a:t>
            </a:r>
          </a:p>
          <a:p>
            <a:pPr>
              <a:defRPr sz="1200" b="0">
                <a:solidFill>
                  <a:srgbClr val="EEEEEE"/>
                </a:solidFill>
                <a:latin typeface="Calibri"/>
              </a:defRPr>
            </a:pPr>
            <a:r>
              <a:t>Peaks      5.09   0.949</a:t>
            </a:r>
          </a:p>
          <a:p>
            <a:pPr>
              <a:defRPr sz="1200" b="0">
                <a:solidFill>
                  <a:srgbClr val="EEEEEE"/>
                </a:solidFill>
                <a:latin typeface="Calibri"/>
              </a:defRPr>
            </a:pPr>
            <a:r>
              <a:t>P95        5.14   0.955</a:t>
            </a:r>
          </a:p>
          <a:p>
            <a:pPr>
              <a:defRPr sz="1200" b="0">
                <a:solidFill>
                  <a:srgbClr val="EEEEEE"/>
                </a:solidFill>
                <a:latin typeface="Calibri"/>
              </a:defRPr>
            </a:pPr>
            <a:r>
              <a:t>Median     5.11   0.972</a:t>
            </a:r>
          </a:p>
          <a:p>
            <a:pPr>
              <a:defRPr sz="1200" b="0">
                <a:solidFill>
                  <a:srgbClr val="EEEEEE"/>
                </a:solidFill>
                <a:latin typeface="Calibri"/>
              </a:defRPr>
            </a:pPr>
            <a:r>
              <a:t>P5         5.03   0.978</a:t>
            </a:r>
          </a:p>
          <a:p>
            <a:pPr>
              <a:defRPr sz="1200" b="0">
                <a:solidFill>
                  <a:srgbClr val="EEEEEE"/>
                </a:solidFill>
                <a:latin typeface="Calibri"/>
              </a:defRPr>
            </a:pPr>
            <a:r>
              <a:t>Floor      5.02   0.984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All slopes ≈ 5.02–5.14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The growth rate is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constant across the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entire distribution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1">
                <a:solidFill>
                  <a:srgbClr val="5DADE2"/>
                </a:solidFill>
                <a:latin typeface="Calibri"/>
              </a:defRPr>
            </a:pPr>
            <a:r>
              <a:t>Gap narrows over time:</a:t>
            </a:r>
          </a:p>
          <a:p>
            <a:pPr>
              <a:defRPr sz="1300" b="0">
                <a:solidFill>
                  <a:srgbClr val="5DADE2"/>
                </a:solidFill>
                <a:latin typeface="Calibri"/>
              </a:defRPr>
            </a:pPr>
            <a:r>
              <a:t>volatility decreasing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Log-Time Binned Support: Equal Weight to Every Era</a:t>
            </a:r>
          </a:p>
        </p:txBody>
      </p:sp>
      <p:pic>
        <p:nvPicPr>
          <p:cNvPr id="4" name="Picture 3" descr="support_logbin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6858000" cy="3949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09728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Problem: recent data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has 8× more points per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unit of ln(t) than early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F7931A"/>
                </a:solidFill>
                <a:latin typeface="Calibri"/>
              </a:defRPr>
            </a:pPr>
            <a:r>
              <a:t>Solution: 34 equal-width</a:t>
            </a: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bins in log₁₀(t), take</a:t>
            </a: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minimum price in each bin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Result: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Optimal genesis:</a:t>
            </a:r>
          </a:p>
          <a:p>
            <a:pPr>
              <a:defRPr sz="1300" b="1">
                <a:solidFill>
                  <a:srgbClr val="2ECC71"/>
                </a:solidFill>
                <a:latin typeface="Calibri"/>
              </a:defRPr>
            </a:pPr>
            <a:r>
              <a:t>Jun 25, 2009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R² = 0.984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Jul 28 ranks #3 of 944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Each era gets equal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weight regardless of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data density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Optimal Time Origin: Genesis Date Sweep</a:t>
            </a:r>
          </a:p>
        </p:txBody>
      </p:sp>
      <p:pic>
        <p:nvPicPr>
          <p:cNvPr id="4" name="Picture 3" descr="genesis_expon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46554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Swept 521 weekly genesis dates from 2007-01-01 to 2016-12-31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Exponent ranges from β≈1.4 (late 2016 genesis) to β≈7.6 (early 2007)</a:t>
            </a: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Best R²=0.963 at July 12, 2009 — 13 days from independently known optimal (July 25)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Key dates annotated: Genesis block, Pizza Day, MtGox, halvings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The R² Peak: A Narrow Window</a:t>
            </a:r>
          </a:p>
        </p:txBody>
      </p:sp>
      <p:pic>
        <p:nvPicPr>
          <p:cNvPr id="4" name="Picture 3" descr="genesis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4155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8463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R²&gt;0.95 region spans only ~2 years around mid-2009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Moving genesis by even a few months drops R² significantly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No economic transactions occurred at this date — first $ rate not until Oct 2009</a:t>
            </a:r>
          </a:p>
          <a:p>
            <a:pPr>
              <a:defRPr sz="1400" b="1">
                <a:solidFill>
                  <a:srgbClr val="F7931A"/>
                </a:solidFill>
                <a:latin typeface="Calibri"/>
              </a:defRPr>
            </a:pPr>
            <a:r>
              <a:t>The date marks where Bitcoin's price behavior begins to follow a power law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Standard Error and the Weighting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515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EEEEEE"/>
                </a:solidFill>
                <a:latin typeface="Calibri"/>
              </a:defRPr>
            </a:pPr>
            <a:r>
              <a:t>Standard error of exponent: how precisely is β determined?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Std error minimizes at a DIFFERENT date than R² (~2014 vs ~2009)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Reason: 2014 genesis excludes messy early bubbles — remaining data is smoother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R² = how well the model explains the data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Std error = how precisely the slope is known (different question!)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F7931A"/>
                </a:solidFill>
                <a:latin typeface="Calibri"/>
              </a:defRPr>
            </a:pPr>
            <a:r>
              <a:t>Weighted Least Squares (log-uniform, weight=1/t):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Each unit of ln(t) gets equal weight — corrects for data being denser at large t</a:t>
            </a:r>
          </a:p>
          <a:p>
            <a:pPr lvl="1">
              <a:defRPr sz="1400" b="0">
                <a:solidFill>
                  <a:srgbClr val="E74C3C"/>
                </a:solidFill>
                <a:latin typeface="Calibri"/>
              </a:defRPr>
            </a:pPr>
            <a:r>
              <a:t>WLS optimal genesis shifts to May 2007 (β=7.7) — completely different!</a:t>
            </a:r>
          </a:p>
          <a:p>
            <a:pPr lvl="1">
              <a:defRPr sz="1400" b="0">
                <a:solidFill>
                  <a:srgbClr val="E74C3C"/>
                </a:solidFill>
                <a:latin typeface="Calibri"/>
              </a:defRPr>
            </a:pPr>
            <a:r>
              <a:t>Known 2009-07-25 has R²=0.56 under WLS — terrible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EEEEEE"/>
                </a:solidFill>
                <a:latin typeface="Calibri"/>
              </a:defRPr>
            </a:pPr>
            <a:r>
              <a:t>Conclusion: the "optimal" genesis depends on how you weight early vs late data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The 2009-07-25 optimality is specific to calendar-uniform (OLS) sampling</a:t>
            </a:r>
          </a:p>
          <a:p>
            <a:pPr lvl="1">
              <a:defRPr sz="1400" b="0">
                <a:solidFill>
                  <a:srgbClr val="2ECC71"/>
                </a:solidFill>
                <a:latin typeface="Calibri"/>
              </a:defRPr>
            </a:pPr>
            <a:r>
              <a:t>This is not a weakness — OLS reflects how the market actually operates (in calendar time)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Nine Independent Lines of Evidence → July 2009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114300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500" b="1">
                <a:solidFill>
                  <a:srgbClr val="5DADE2"/>
                </a:solidFill>
                <a:latin typeface="Calibri"/>
              </a:defRPr>
            </a:pPr>
            <a:r>
              <a:t>1. Residual autocorrelation (Durbin-Watson)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July 25 produces least autocorrelated residuals (DW=0.004, #1 of 546 candidates)</a:t>
            </a:r>
          </a:p>
          <a:p>
            <a:pPr>
              <a:defRPr sz="1500" b="1">
                <a:solidFill>
                  <a:srgbClr val="5DADE2"/>
                </a:solidFill>
                <a:latin typeface="Calibri"/>
              </a:defRPr>
            </a:pPr>
            <a:r>
              <a:t>2. Out-of-sample prediction (train/test split)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Jul 20-25 minimizes forward prediction error across 3 test windows (#11 of 546)</a:t>
            </a:r>
          </a:p>
          <a:p>
            <a:pPr>
              <a:defRPr sz="1500" b="1">
                <a:solidFill>
                  <a:srgbClr val="5DADE2"/>
                </a:solidFill>
                <a:latin typeface="Calibri"/>
              </a:defRPr>
            </a:pPr>
            <a:r>
              <a:t>3. Slope stability across expanding time windows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Early Sep 2009 gives most consistent β (σ=0.099). Jul 25 ranks top 15%</a:t>
            </a:r>
          </a:p>
          <a:p>
            <a:pPr>
              <a:defRPr sz="1500" b="1">
                <a:solidFill>
                  <a:srgbClr val="5DADE2"/>
                </a:solidFill>
                <a:latin typeface="Calibri"/>
              </a:defRPr>
            </a:pPr>
            <a:r>
              <a:t>4. Windowed support-line fit (bubble-free)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Bottom 5% of prices in 4yr sliding windows → optimal Jul 28 (R²=0.990)</a:t>
            </a:r>
          </a:p>
          <a:p>
            <a:pPr>
              <a:defRPr sz="1500" b="1">
                <a:solidFill>
                  <a:srgbClr val="5DADE2"/>
                </a:solidFill>
                <a:latin typeface="Calibri"/>
              </a:defRPr>
            </a:pPr>
            <a:r>
              <a:t>4b. Log-time binned minimum support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34 equal-width bins in log₁₀(t), min price each → optimal Jun 25 (R²=0.984)</a:t>
            </a:r>
          </a:p>
          <a:p>
            <a:pPr>
              <a:defRPr sz="1500" b="1">
                <a:solidFill>
                  <a:srgbClr val="5DADE2"/>
                </a:solidFill>
                <a:latin typeface="Calibri"/>
              </a:defRPr>
            </a:pPr>
            <a:r>
              <a:t>5. Hand-drawn Q10 support line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Two anchor points (Oct 2010 + Dec 2022) → slope=5.11, exactly 10% below → Jul 26</a:t>
            </a:r>
          </a:p>
          <a:p>
            <a:pPr>
              <a:defRPr sz="1500" b="1">
                <a:solidFill>
                  <a:srgbClr val="5DADE2"/>
                </a:solidFill>
                <a:latin typeface="Calibri"/>
              </a:defRPr>
            </a:pPr>
            <a:r>
              <a:t>6. Floor-to-peaks convergence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All percentiles (floor→P5→median→P95→peaks) follow slope 5.02-5.14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Optimal genesis shifts Jun 2009 (floor) to Nov 2009 (peaks) — Jul 25 is the center</a:t>
            </a:r>
          </a:p>
          <a:p>
            <a:pPr>
              <a:defRPr sz="1500" b="1">
                <a:solidFill>
                  <a:srgbClr val="5DADE2"/>
                </a:solidFill>
                <a:latin typeface="Calibri"/>
              </a:defRPr>
            </a:pPr>
            <a:r>
              <a:t>7. Q5% temporal uniformity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Optimize support line so 5% of prices fall below at every epoch → Jun 13, 2009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All nine methods converge on June-August 2009 — no economic transactions at this time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Rect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Eighth Test: OOS σ Sweep (Strict Train/Test)</a:t>
            </a:r>
          </a:p>
        </p:txBody>
      </p:sp>
      <p:pic>
        <p:nvPicPr>
          <p:cNvPr id="4" name="Picture 3" descr="sweep_t0_holdout20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486400" cy="5669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35040" y="914400"/>
            <a:ext cx="59436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E1E1E"/>
                </a:solidFill>
              </a:rPr>
              <a:t>Methodology — strict out-of-sample:</a:t>
            </a:r>
          </a:p>
          <a:p>
            <a:r>
              <a:rPr sz="1300">
                <a:solidFill>
                  <a:srgbClr val="1E1E1E"/>
                </a:solidFill>
              </a:rPr>
              <a:t>  • Fit power law on pre-2015-01-01 data (n_fit ≈ 1,600 at canonical).</a:t>
            </a:r>
          </a:p>
          <a:p>
            <a:r>
              <a:rPr sz="1300">
                <a:solidFill>
                  <a:srgbClr val="1E1E1E"/>
                </a:solidFill>
              </a:rPr>
              <a:t>  • Evaluate on 4,118 post-2015 samples the fit has never seen.</a:t>
            </a:r>
          </a:p>
          <a:p>
            <a:r>
              <a:rPr sz="1300">
                <a:solidFill>
                  <a:srgbClr val="1E1E1E"/>
                </a:solidFill>
              </a:rPr>
              <a:t>  • Sweep 522 t₀ candidates at 7-day step, 2007-01-01 → 2017-01-01.</a:t>
            </a:r>
          </a:p>
          <a:p>
            <a:r>
              <a:rPr sz="1300">
                <a:solidFill>
                  <a:srgbClr val="1E1E1E"/>
                </a:solidFill>
              </a:rPr>
              <a:t>  • Three weightings: log-density (primary), unweighted, 1/t.</a:t>
            </a:r>
          </a:p>
          <a:p>
            <a:r>
              <a:rPr sz="1300">
                <a:solidFill>
                  <a:srgbClr val="1E1E1E"/>
                </a:solidFill>
              </a:rPr>
              <a:t/>
            </a:r>
          </a:p>
          <a:p>
            <a:r>
              <a:rPr sz="1300" b="1">
                <a:solidFill>
                  <a:srgbClr val="1E1E1E"/>
                </a:solidFill>
              </a:rPr>
              <a:t>Findings at the canonical t₀ = 2009-07-25:</a:t>
            </a:r>
          </a:p>
          <a:p>
            <a:r>
              <a:rPr sz="1300">
                <a:solidFill>
                  <a:srgbClr val="1E1E1E"/>
                </a:solidFill>
              </a:rPr>
              <a:t>  • β = 5.53   σ_fit = 0.368   σ_holdout = 0.432</a:t>
            </a:r>
          </a:p>
          <a:p>
            <a:r>
              <a:rPr sz="1300">
                <a:solidFill>
                  <a:srgbClr val="1E1E1E"/>
                </a:solidFill>
              </a:rPr>
              <a:t/>
            </a:r>
          </a:p>
          <a:p>
            <a:r>
              <a:rPr sz="1300" b="1">
                <a:solidFill>
                  <a:srgbClr val="1E1E1E"/>
                </a:solidFill>
              </a:rPr>
              <a:t>Optimum on this holdout:</a:t>
            </a:r>
          </a:p>
          <a:p>
            <a:r>
              <a:rPr sz="1300">
                <a:solidFill>
                  <a:srgbClr val="1E1E1E"/>
                </a:solidFill>
              </a:rPr>
              <a:t>  • Argmin σ_holdout: 2009-11-09   (+107 days, ~15 weeks later)</a:t>
            </a:r>
          </a:p>
          <a:p>
            <a:r>
              <a:rPr sz="1300">
                <a:solidFill>
                  <a:srgbClr val="1E1E1E"/>
                </a:solidFill>
              </a:rPr>
              <a:t>  • σ_holdout at optimum: 0.269 (40% lower than canonical)</a:t>
            </a:r>
          </a:p>
          <a:p>
            <a:r>
              <a:rPr sz="1300">
                <a:solidFill>
                  <a:srgbClr val="1E1E1E"/>
                </a:solidFill>
              </a:rPr>
              <a:t>  • β at optimum: 4.58</a:t>
            </a:r>
          </a:p>
          <a:p>
            <a:r>
              <a:rPr sz="1300">
                <a:solidFill>
                  <a:srgbClr val="1E1E1E"/>
                </a:solidFill>
              </a:rPr>
              <a:t/>
            </a:r>
          </a:p>
          <a:p>
            <a:r>
              <a:rPr sz="1300" b="1">
                <a:solidFill>
                  <a:srgbClr val="1E1E1E"/>
                </a:solidFill>
              </a:rPr>
              <a:t>Interpretation — a 4-month trough, not a sharp minimum:</a:t>
            </a:r>
          </a:p>
          <a:p>
            <a:r>
              <a:rPr sz="1300">
                <a:solidFill>
                  <a:srgbClr val="1E1E1E"/>
                </a:solidFill>
              </a:rPr>
              <a:t>  • All three weightings converge on the same trough.</a:t>
            </a:r>
          </a:p>
          <a:p>
            <a:r>
              <a:rPr sz="1300">
                <a:solidFill>
                  <a:srgbClr val="1E1E1E"/>
                </a:solidFill>
              </a:rPr>
              <a:t>  • Optimum is inside a wide σ_holdout valley spanning Q3 2009.</a:t>
            </a:r>
          </a:p>
          <a:p>
            <a:r>
              <a:rPr sz="1300">
                <a:solidFill>
                  <a:srgbClr val="1E1E1E"/>
                </a:solidFill>
              </a:rPr>
              <a:t>  • β varies ~20% within the trough (4.6 – 5.5).</a:t>
            </a:r>
          </a:p>
          <a:p>
            <a:r>
              <a:rPr sz="1300">
                <a:solidFill>
                  <a:srgbClr val="1E1E1E"/>
                </a:solidFill>
              </a:rPr>
              <a:t>  • Sweep ends at t₀ ≈ 2013 where n_fit drops below 500.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Rect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Moving the Holdout Boundary Flips the Optimum's Sign</a:t>
            </a:r>
          </a:p>
        </p:txBody>
      </p:sp>
      <p:pic>
        <p:nvPicPr>
          <p:cNvPr id="4" name="Picture 3" descr="sweep_t0_holdout20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486400" cy="5669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35040" y="914400"/>
            <a:ext cx="59436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E1E1E"/>
                </a:solidFill>
              </a:rPr>
              <a:t>Same sweep, different holdout boundary:</a:t>
            </a:r>
          </a:p>
          <a:p>
            <a:r>
              <a:rPr sz="1300">
                <a:solidFill>
                  <a:srgbClr val="1E1E1E"/>
                </a:solidFill>
              </a:rPr>
              <a:t>  • Fit on pre-2016-12-15 data (n_fit ≈ 2,330 at canonical).</a:t>
            </a:r>
          </a:p>
          <a:p>
            <a:r>
              <a:rPr sz="1300">
                <a:solidFill>
                  <a:srgbClr val="1E1E1E"/>
                </a:solidFill>
              </a:rPr>
              <a:t>  • Evaluate on 3,404 post-2016-12 samples.</a:t>
            </a:r>
          </a:p>
          <a:p>
            <a:r>
              <a:rPr sz="1300">
                <a:solidFill>
                  <a:srgbClr val="1E1E1E"/>
                </a:solidFill>
              </a:rPr>
              <a:t>  • 2 extra years of training data vs prior sweep.</a:t>
            </a:r>
          </a:p>
          <a:p>
            <a:r>
              <a:rPr sz="1300">
                <a:solidFill>
                  <a:srgbClr val="1E1E1E"/>
                </a:solidFill>
              </a:rPr>
              <a:t/>
            </a:r>
          </a:p>
          <a:p>
            <a:r>
              <a:rPr sz="1300" b="1">
                <a:solidFill>
                  <a:srgbClr val="1E1E1E"/>
                </a:solidFill>
              </a:rPr>
              <a:t>Findings at the canonical t₀ = 2009-07-25:</a:t>
            </a:r>
          </a:p>
          <a:p>
            <a:r>
              <a:rPr sz="1300">
                <a:solidFill>
                  <a:srgbClr val="1E1E1E"/>
                </a:solidFill>
              </a:rPr>
              <a:t>  • β = 4.81   σ_fit = 0.372   σ_holdout = 0.331</a:t>
            </a:r>
          </a:p>
          <a:p>
            <a:r>
              <a:rPr sz="1300">
                <a:solidFill>
                  <a:srgbClr val="1E1E1E"/>
                </a:solidFill>
              </a:rPr>
              <a:t/>
            </a:r>
          </a:p>
          <a:p>
            <a:r>
              <a:rPr sz="1300" b="1">
                <a:solidFill>
                  <a:srgbClr val="1E1E1E"/>
                </a:solidFill>
              </a:rPr>
              <a:t>Optimum on this holdout:</a:t>
            </a:r>
          </a:p>
          <a:p>
            <a:r>
              <a:rPr sz="1300">
                <a:solidFill>
                  <a:srgbClr val="1E1E1E"/>
                </a:solidFill>
              </a:rPr>
              <a:t>  • Argmin σ_holdout: 2009-03-23   (−124 days, ~4 months earlier)</a:t>
            </a:r>
          </a:p>
          <a:p>
            <a:r>
              <a:rPr sz="1300">
                <a:solidFill>
                  <a:srgbClr val="1E1E1E"/>
                </a:solidFill>
              </a:rPr>
              <a:t>  • σ_holdout at optimum: 0.228</a:t>
            </a:r>
          </a:p>
          <a:p>
            <a:r>
              <a:rPr sz="1300">
                <a:solidFill>
                  <a:srgbClr val="1E1E1E"/>
                </a:solidFill>
              </a:rPr>
              <a:t>  • β at optimum: 5.62</a:t>
            </a:r>
          </a:p>
          <a:p>
            <a:r>
              <a:rPr sz="1300">
                <a:solidFill>
                  <a:srgbClr val="1E1E1E"/>
                </a:solidFill>
              </a:rPr>
              <a:t/>
            </a:r>
          </a:p>
          <a:p>
            <a:r>
              <a:rPr sz="1300" b="1">
                <a:solidFill>
                  <a:srgbClr val="1E1E1E"/>
                </a:solidFill>
              </a:rPr>
              <a:t>The direction of the offset flipped:</a:t>
            </a:r>
          </a:p>
          <a:p>
            <a:r>
              <a:rPr sz="1300">
                <a:solidFill>
                  <a:srgbClr val="1E1E1E"/>
                </a:solidFill>
              </a:rPr>
              <a:t>  • 2015 holdout → optimum is 107 d AFTER canonical.</a:t>
            </a:r>
          </a:p>
          <a:p>
            <a:r>
              <a:rPr sz="1300">
                <a:solidFill>
                  <a:srgbClr val="1E1E1E"/>
                </a:solidFill>
              </a:rPr>
              <a:t>  • 2016-12 holdout → optimum is 124 d BEFORE canonical.</a:t>
            </a:r>
          </a:p>
          <a:p>
            <a:r>
              <a:rPr sz="1300">
                <a:solidFill>
                  <a:srgbClr val="1E1E1E"/>
                </a:solidFill>
              </a:rPr>
              <a:t/>
            </a:r>
          </a:p>
          <a:p>
            <a:r>
              <a:rPr sz="1300" b="1">
                <a:solidFill>
                  <a:srgbClr val="1E1E1E"/>
                </a:solidFill>
              </a:rPr>
              <a:t>Takeaway — ~100-day scatter is methodology noise, not bias:</a:t>
            </a:r>
          </a:p>
          <a:p>
            <a:r>
              <a:rPr sz="1300">
                <a:solidFill>
                  <a:srgbClr val="1E1E1E"/>
                </a:solidFill>
              </a:rPr>
              <a:t>  • Optimum position is sensitive to which era is ground truth.</a:t>
            </a:r>
          </a:p>
          <a:p>
            <a:r>
              <a:rPr sz="1300">
                <a:solidFill>
                  <a:srgbClr val="1E1E1E"/>
                </a:solidFill>
              </a:rPr>
              <a:t>  • Canonical 2009-07-25 sits inside the ±4-month envelope</a:t>
            </a:r>
          </a:p>
          <a:p>
            <a:r>
              <a:rPr sz="1300">
                <a:solidFill>
                  <a:srgbClr val="1E1E1E"/>
                </a:solidFill>
              </a:rPr>
              <a:t>    regardless of the holdout cutoff.</a:t>
            </a:r>
          </a:p>
          <a:p>
            <a:r>
              <a:rPr sz="1300">
                <a:solidFill>
                  <a:srgbClr val="1E1E1E"/>
                </a:solidFill>
              </a:rPr>
              <a:t>  • Picking July 25 trades a small single-holdout σ loss for</a:t>
            </a:r>
          </a:p>
          <a:p>
            <a:r>
              <a:rPr sz="1300">
                <a:solidFill>
                  <a:srgbClr val="1E1E1E"/>
                </a:solidFill>
              </a:rPr>
              <a:t>    robustness across methodology choices.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Floor-to-Peaks: The Power Law Spans the Entire 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34 equal-width bins in log₁₀(t). Fit power law to each percentile: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500" b="1">
                <a:solidFill>
                  <a:srgbClr val="F7931A"/>
                </a:solidFill>
                <a:latin typeface="Calibri"/>
              </a:defRPr>
            </a:pPr>
            <a:r>
              <a:t>Percentile      Slope    Optimal Genesis     R²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Bin max (peaks)   5.09     Nov 23, 2009      0.949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Bin P95           5.14     Nov 17, 2009      0.955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Bin median        5.11     Oct 16, 2009      0.972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Bin P5            5.03     Jun  1, 2009      0.978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Bin min (floor)   5.02     Jun 25, 2009      0.984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Key findings:</a:t>
            </a:r>
          </a:p>
          <a:p>
            <a:pPr lvl="1">
              <a:defRPr sz="1400" b="0">
                <a:solidFill>
                  <a:srgbClr val="2ECC71"/>
                </a:solidFill>
                <a:latin typeface="Calibri"/>
              </a:defRPr>
            </a:pPr>
            <a:r>
              <a:t>All percentiles follow nearly the same slope: β ∈ [5.02, 5.14]</a:t>
            </a:r>
          </a:p>
          <a:p>
            <a:pPr lvl="1">
              <a:defRPr sz="1400" b="0">
                <a:solidFill>
                  <a:srgbClr val="2ECC71"/>
                </a:solidFill>
                <a:latin typeface="Calibri"/>
              </a:defRPr>
            </a:pPr>
            <a:r>
              <a:t>The gap between peaks and floor narrows over time → volatility is decreasing</a:t>
            </a:r>
          </a:p>
          <a:p>
            <a:pPr lvl="1">
              <a:defRPr sz="1400" b="0">
                <a:solidFill>
                  <a:srgbClr val="2ECC71"/>
                </a:solidFill>
                <a:latin typeface="Calibri"/>
              </a:defRPr>
            </a:pPr>
            <a:r>
              <a:t>The underlying growth rate (~5.08) is constant across the entire price distribution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The floor "starts" earlier (Jun 2009) because it's anchored by the first prices</a:t>
            </a: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The peaks start later (Nov 2009) because the first bubble didn't happen until 2011</a:t>
            </a: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July 25 sits in the middle — balancing floor and peak behavior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What Does t=0 Mean?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E74C3C"/>
                </a:solidFill>
                <a:latin typeface="Calibri"/>
              </a:defRPr>
            </a:pPr>
            <a:r>
              <a:t>The optimal time origin (July 25, 2009) is NOT: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The Bitcoin genesis block (Jan 3, 2009)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The first transaction (Jan 12, 2009)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The first dollar-denominated exchange rate (Oct 5, 2009)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Any specific economic event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2ECC71"/>
                </a:solidFill>
                <a:latin typeface="Calibri"/>
              </a:defRPr>
            </a:pPr>
            <a:r>
              <a:t>It IS:</a:t>
            </a:r>
          </a:p>
          <a:p>
            <a:pPr lvl="1">
              <a:defRPr sz="1500" b="0">
                <a:solidFill>
                  <a:srgbClr val="EEEEEE"/>
                </a:solidFill>
                <a:latin typeface="Calibri"/>
              </a:defRPr>
            </a:pPr>
            <a:r>
              <a:t>The date where Bitcoin's price behavior begins to follow a power law</a:t>
            </a:r>
          </a:p>
          <a:p>
            <a:pPr lvl="1">
              <a:defRPr sz="1500" b="0">
                <a:solidFill>
                  <a:srgbClr val="EEEEEE"/>
                </a:solidFill>
                <a:latin typeface="Calibri"/>
              </a:defRPr>
            </a:pPr>
            <a:r>
              <a:t>A statistical property of the data, not a historical milestone</a:t>
            </a:r>
          </a:p>
          <a:p>
            <a:pPr lvl="1">
              <a:defRPr sz="1500" b="0">
                <a:solidFill>
                  <a:srgbClr val="EEEEEE"/>
                </a:solidFill>
                <a:latin typeface="Calibri"/>
              </a:defRPr>
            </a:pPr>
            <a:r>
              <a:t>The point where the mathematical structure "turns on"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Blockchain data shows no economic activity in summer 2009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50 BTC in block 0 were unspendable (code bug). Block 1 mined 5 days later.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First real transaction: Satoshi → Hal Finney, Jan 12, 2009 (block 170)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First dollar rate: Oct 2009 (New Liberty Standard, 1,309 BTC = $1)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500" b="0">
                <a:solidFill>
                  <a:srgbClr val="EEEEEE"/>
                </a:solidFill>
                <a:latin typeface="Calibri"/>
              </a:defRPr>
            </a:pPr>
            <a:r>
              <a:t>Interpretation: the power law may reflect the moment Bitcoin transitions from</a:t>
            </a:r>
          </a:p>
          <a:p>
            <a:pPr>
              <a:defRPr sz="1500" b="0">
                <a:solidFill>
                  <a:srgbClr val="EEEEEE"/>
                </a:solidFill>
                <a:latin typeface="Calibri"/>
              </a:defRPr>
            </a:pPr>
            <a:r>
              <a:t>"experiment" to "nascent monetary system" — even before anyone could price 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Three Tests Converge on July 2009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F7931A"/>
                </a:solidFill>
                <a:latin typeface="Calibri"/>
              </a:defRPr>
            </a:pPr>
            <a:r>
              <a:t>The optimal time origin was confirmed by three independent statistical tests: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5DADE2"/>
                </a:solidFill>
                <a:latin typeface="Calibri"/>
              </a:defRPr>
            </a:pPr>
            <a:r>
              <a:t>1. Durbin-Watson test for autocorrelation in residuals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   Residuals closest to white noise at genesis ≈ July 2009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5DADE2"/>
                </a:solidFill>
                <a:latin typeface="Calibri"/>
              </a:defRPr>
            </a:pPr>
            <a:r>
              <a:t>2. Out-of-sample RMSE (train/test split)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   Best predictive accuracy when genesis ≈ July 2009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5DADE2"/>
                </a:solidFill>
                <a:latin typeface="Calibri"/>
              </a:defRPr>
            </a:pPr>
            <a:r>
              <a:t>3. Slope stability across subsets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   Exponent most consistent when genesis ≈ July 2009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2ECC71"/>
                </a:solidFill>
                <a:latin typeface="Calibri"/>
              </a:defRPr>
            </a:pPr>
            <a:r>
              <a:t>546 candidate dates tested — all three tests converge on the same narrow window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Distinct from the Bitcoin genesis block (Jan 3, 2009) — this is a statistical</a:t>
            </a: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property of the price data, not a specific economic event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Is the Power Law a Single Regime?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If residuals are autocorrelated (DW≈0.004), does that imply structural</a:t>
            </a: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regime changes — different power law slopes in different eras?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Five econometric tests on all available data (2010-2026, N=5,714):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5DADE2"/>
                </a:solidFill>
                <a:latin typeface="Calibri"/>
              </a:defRPr>
            </a:pPr>
            <a:r>
              <a:t>1. Box-Cox λ sweep: optimal λ=0.012 ≈ 0 (pure log-log)</a:t>
            </a:r>
          </a:p>
          <a:p>
            <a:pPr lvl="1"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RMSE improves only 0.03% over λ=0. Power law IS the correct form.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5DADE2"/>
                </a:solidFill>
                <a:latin typeface="Calibri"/>
              </a:defRPr>
            </a:pPr>
            <a:r>
              <a:t>2. Rolling regression (2yr window): slope oscillates ≈ −8 to +15</a:t>
            </a:r>
          </a:p>
          <a:p>
            <a:pPr lvl="1"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But always mean-reverts to ~5.0. If regime changed, slope would stay shifted.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5DADE2"/>
                </a:solidFill>
                <a:latin typeface="Calibri"/>
              </a:defRPr>
            </a:pPr>
            <a:r>
              <a:t>3. Bai-Perron structural breakpoints: 6 breaks found (2011-2020)</a:t>
            </a:r>
          </a:p>
          <a:p>
            <a:pPr lvl="1"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All land at bubble peaks/troughs. Segment slopes 2.1-5.2 bracket 5.08.</a:t>
            </a:r>
          </a:p>
          <a:p>
            <a:pPr lvl="1"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These are cycle boundaries, not permanent regime shifts.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5DADE2"/>
                </a:solidFill>
                <a:latin typeface="Calibri"/>
              </a:defRPr>
            </a:pPr>
            <a:r>
              <a:t>4. Chow test: F-tests significant (p≈0) at each break</a:t>
            </a:r>
          </a:p>
          <a:p>
            <a:pPr lvl="1"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Expected whenever bubbles temporarily alter the slope. Significance ≠ permanence.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5DADE2"/>
                </a:solidFill>
                <a:latin typeface="Calibri"/>
              </a:defRPr>
            </a:pPr>
            <a:r>
              <a:t>5. CUSUM: residual sum wanders above/below zero in wave pattern</a:t>
            </a:r>
          </a:p>
          <a:p>
            <a:pPr lvl="1">
              <a:defRPr sz="1200" b="0">
                <a:solidFill>
                  <a:srgbClr val="888888"/>
                </a:solidFill>
                <a:latin typeface="Calibri"/>
              </a:defRPr>
            </a:pPr>
            <a:r>
              <a:t>   Classic bubble oscillation. No sharp one-way departure = no true structural break.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Regime Analysis: Rolling Slopes + Structural Breaks</a:t>
            </a:r>
          </a:p>
        </p:txBody>
      </p:sp>
      <p:pic>
        <p:nvPicPr>
          <p:cNvPr id="4" name="Picture 3" descr="regime_analys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7315200" cy="9529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46720" y="1097280"/>
            <a:ext cx="3840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F7931A"/>
                </a:solidFill>
                <a:latin typeface="Calibri"/>
              </a:defRPr>
            </a:pPr>
            <a:r>
              <a:t>Rolling 2yr OLS slope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oscillates wildly with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bubble cycles but always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returns to β≈5.0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E74C3C"/>
                </a:solidFill>
                <a:latin typeface="Calibri"/>
              </a:defRPr>
            </a:pPr>
            <a:r>
              <a:t>Bai-Perron breaks all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coincide with cycle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peaks and troughs —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not permanent shifts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5DADE2"/>
                </a:solidFill>
                <a:latin typeface="Calibri"/>
              </a:defRPr>
            </a:pPr>
            <a:r>
              <a:t>CUSUM shows oscillation,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not departure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Conclusion: One Regime, One Power Law</a:t>
            </a:r>
          </a:p>
        </p:txBody>
      </p:sp>
      <p:pic>
        <p:nvPicPr>
          <p:cNvPr id="4" name="Picture 3" descr="regime_analysis_tab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6400800" cy="3072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09728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2ECC71"/>
                </a:solidFill>
                <a:latin typeface="Calibri"/>
              </a:defRPr>
            </a:pPr>
            <a:r>
              <a:t>Bitcoin follows a single</a:t>
            </a:r>
          </a:p>
          <a:p>
            <a:pPr>
              <a:defRPr sz="1800" b="1">
                <a:solidFill>
                  <a:srgbClr val="2ECC71"/>
                </a:solidFill>
                <a:latin typeface="Calibri"/>
              </a:defRPr>
            </a:pPr>
            <a:r>
              <a:t>power law regime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λ = 0 (Box-Cox)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→ log-log is exact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β ≈ 5.08 (full sample)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→ same slope since 2010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DW ≈ 0 and structural</a:t>
            </a: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breaks reflect cyclic</a:t>
            </a: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bubble deviations, not</a:t>
            </a:r>
          </a:p>
          <a:p>
            <a:pPr>
              <a:defRPr sz="1400" b="0">
                <a:solidFill>
                  <a:srgbClr val="F7931A"/>
                </a:solidFill>
                <a:latin typeface="Calibri"/>
              </a:defRPr>
            </a:pPr>
            <a:r>
              <a:t>permanent regime changes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The slope oscillates with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market cycles but always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reverts to the same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long-term trend.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What's On Top of the Power Law?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200" b="1">
                <a:solidFill>
                  <a:srgbClr val="EEEEEE"/>
                </a:solidFill>
                <a:latin typeface="Calibri"/>
              </a:defRPr>
            </a:pPr>
            <a:r>
              <a:t>Price = Power Law Trend + Oscillations + Noise</a:t>
            </a:r>
          </a:p>
          <a:p>
            <a:pPr>
              <a:defRPr sz="10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0">
                <a:solidFill>
                  <a:srgbClr val="EEEEEE"/>
                </a:solidFill>
                <a:latin typeface="Calibri"/>
              </a:defRPr>
            </a:pPr>
            <a:r>
              <a:t>The central question: what are the oscillations, and can we predict them?</a:t>
            </a:r>
          </a:p>
          <a:p>
            <a:pPr>
              <a:defRPr sz="10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F7931A"/>
                </a:solidFill>
                <a:latin typeface="Calibri"/>
              </a:defRPr>
            </a:pPr>
            <a:r>
              <a:t>Investigation scope:</a:t>
            </a:r>
          </a:p>
          <a:p>
            <a:pPr lvl="1">
              <a:defRPr sz="1600" b="0">
                <a:solidFill>
                  <a:srgbClr val="888888"/>
                </a:solidFill>
                <a:latin typeface="Calibri"/>
              </a:defRPr>
            </a:pPr>
            <a:r>
              <a:t>30+ model variants fitted via differential evolution</a:t>
            </a:r>
          </a:p>
          <a:p>
            <a:pPr lvl="1">
              <a:defRPr sz="1600" b="0">
                <a:solidFill>
                  <a:srgbClr val="888888"/>
                </a:solidFill>
                <a:latin typeface="Calibri"/>
              </a:defRPr>
            </a:pPr>
            <a:r>
              <a:t>4 independent decomposition methods (PCA, EMD, DMD, sparse selection)</a:t>
            </a:r>
          </a:p>
          <a:p>
            <a:pPr lvl="1">
              <a:defRPr sz="1600" b="0">
                <a:solidFill>
                  <a:srgbClr val="888888"/>
                </a:solidFill>
                <a:latin typeface="Calibri"/>
              </a:defRPr>
            </a:pPr>
            <a:r>
              <a:t>500+ basis functions tested (sinusoidal, triangle, flat-top, trapezoid, entropy-damped)</a:t>
            </a:r>
          </a:p>
          <a:p>
            <a:pPr lvl="1">
              <a:defRPr sz="1600" b="0">
                <a:solidFill>
                  <a:srgbClr val="888888"/>
                </a:solidFill>
                <a:latin typeface="Calibri"/>
              </a:defRPr>
            </a:pPr>
            <a:r>
              <a:t>36 HybPPL configurations + 36 EPPL configurations pre-fitted</a:t>
            </a:r>
          </a:p>
          <a:p>
            <a:pPr lvl="1">
              <a:defRPr sz="1600" b="0">
                <a:solidFill>
                  <a:srgbClr val="888888"/>
                </a:solidFill>
                <a:latin typeface="Calibri"/>
              </a:defRPr>
            </a:pPr>
            <a:r>
              <a:t>Non-sinusoidal wave shape analysis and bubble evolution study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Two Dominant Signals — Found Three Ways</a:t>
            </a:r>
          </a:p>
        </p:txBody>
      </p:sp>
      <p:pic>
        <p:nvPicPr>
          <p:cNvPr id="4" name="Picture 3" descr="three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4492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PCA: ω≈7.4 log-periodic + T≈3.6yr calendar — from 30 HybPPL model components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EMD: T≈3.9yr (IMF 7) + T≈2.0yr (IMF 6) — assumption-free signal decomposition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DMD: T≈4.0yr (nearly stable) + T≈2.0yr (slowly decaying) — eigenmode analysis</a:t>
            </a: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Three fundamentally different mathematical frameworks converge on the same two signals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The Hybrid Periodic Power Law Model Family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log₁₀(price) = A + B·log₁₀(t) + C₁·t⁻ᴰ·cos(ω_log·ln(t)+φ₁) + C₂·cos(ω_cal·t+φ₂)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Log-periodic component (ω≈7.4):  fractal self-similarity, damped</a:t>
            </a: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Calendar component (T≈3.6yr):  halving cycle, undamped — persists indefinitely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Extended to 2nd harmonics: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Hyb2L (+2nd log, ω≈16):  R²=0.991, 13 params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Hyb2C (+2nd calendar, T≈1.9yr):  R²=0.991, 12 params — sub-halving rhythm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Hyb2B (both 2nd harmonics):  R²=0.993, 16 params — best parametric model</a:t>
            </a:r>
          </a:p>
          <a:p>
            <a:pPr lvl="1">
              <a:defRPr sz="1400" b="0">
                <a:solidFill>
                  <a:srgbClr val="E74C3C"/>
                </a:solidFill>
                <a:latin typeface="Calibri"/>
              </a:defRPr>
            </a:pPr>
            <a:r>
              <a:t>Hyb4D (all damped):  R²=0.992, 18 params — worse! Calendar terms want to be undamped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2ECC71"/>
                </a:solidFill>
                <a:latin typeface="Calibri"/>
              </a:defRPr>
            </a:pPr>
            <a:r>
              <a:t>Key finding: the halving cycle should NOT be damped — it's structural, not speculative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PCA: Optimal Compression in 7 Parameters</a:t>
            </a:r>
          </a:p>
        </p:txBody>
      </p:sp>
      <p:pic>
        <p:nvPicPr>
          <p:cNvPr id="4" name="Picture 3" descr="pca_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51768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30 component curves from 6 HybPPL models → SVD → 6 orthogonal principal components</a:t>
            </a:r>
          </a:p>
          <a:p>
            <a:pPr>
              <a:defRPr sz="1300" b="1">
                <a:solidFill>
                  <a:srgbClr val="EEEEEE"/>
                </a:solidFill>
                <a:latin typeface="Calibri"/>
              </a:defRPr>
            </a:pPr>
            <a:r>
              <a:t>PC1 (97.2%): power law trend  |  PC2 (1.5%): halving cycle  |  PC3 (1.0%): log-periodic</a:t>
            </a: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R²=0.993 with 7 params — beats 16-param Hyb2B on BIC (-23,776 vs -23,203)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Synthetic Basis Search: Can We Beat Curated Components?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F7931A"/>
                </a:solidFill>
                <a:latin typeface="Calibri"/>
              </a:defRPr>
            </a:pPr>
            <a:r>
              <a:t>Tested 224 candidate basis functions: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Polynomials: log₁₀(t)ⁿ, tᵅ — useless (R²=0.964 max, can't represent oscillations)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Generic sin/cos at frequency grids (log-time + calendar-time)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Damped variants: t⁻ᴰ·cos(...) at D=0.3, 0.7, 1.0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Gompertz saturation curves (27 variants)</a:t>
            </a:r>
          </a:p>
          <a:p>
            <a:pPr lvl="1">
              <a:defRPr sz="1400" b="0">
                <a:solidFill>
                  <a:srgbClr val="888888"/>
                </a:solidFill>
                <a:latin typeface="Calibri"/>
              </a:defRPr>
            </a:pPr>
            <a:r>
              <a:t>Broken power law pieces (4 breakpoints)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2ECC71"/>
                </a:solidFill>
                <a:latin typeface="Calibri"/>
              </a:defRPr>
            </a:pPr>
            <a:r>
              <a:t>Result: the curated HybPPL basis wins convincingly</a:t>
            </a:r>
          </a:p>
          <a:p>
            <a:pPr lvl="1">
              <a:defRPr sz="1400" b="0">
                <a:solidFill>
                  <a:srgbClr val="EEEEEE"/>
                </a:solidFill>
                <a:latin typeface="Calibri"/>
              </a:defRPr>
            </a:pPr>
            <a:r>
              <a:t>Generic dictionary needs k=24 (25 params) to beat curated k=6 (7 params)</a:t>
            </a:r>
          </a:p>
          <a:p>
            <a:pPr lvl="1">
              <a:defRPr sz="1400" b="0">
                <a:solidFill>
                  <a:srgbClr val="EEEEEE"/>
                </a:solidFill>
                <a:latin typeface="Calibri"/>
              </a:defRPr>
            </a:pPr>
            <a:r>
              <a:t>At equal k=6: dictionary R²=0.951 vs curated 0.993 — dramatically worse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Why: DE-fitted ω≈7.42 and D≈0.71 can't be matched by a frequency grid</a:t>
            </a: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Nearby-but-wrong frequencies waste PCA dimensions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The Entropy Discovery: Shannon Meets Bitcoin</a:t>
            </a:r>
          </a:p>
        </p:txBody>
      </p:sp>
      <p:pic>
        <p:nvPicPr>
          <p:cNvPr id="4" name="Picture 3" descr="entropy_envel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52613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1">
                <a:solidFill>
                  <a:srgbClr val="F7931A"/>
                </a:solidFill>
                <a:latin typeface="Calibri"/>
              </a:defRPr>
            </a:pPr>
            <a:r>
              <a:t>E(w·t) = max(-w·t·ln(w·t), 0)/(1/e) — the Shannon entropy function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Peaks at 37% of adoption lifecycle (maximum uncertainty), zero at 100% (resolved)</a:t>
            </a:r>
          </a:p>
          <a:p>
            <a:pPr>
              <a:defRPr sz="1300" b="1">
                <a:solidFill>
                  <a:srgbClr val="2ECC71"/>
                </a:solidFill>
                <a:latin typeface="Calibri"/>
              </a:defRPr>
            </a:pPr>
            <a:r>
              <a:t>EPPL beats HybPPL on BIC at same param count: -21,065 vs -20,814 (9p)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What the Entropy Parameters Say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F7931A"/>
                </a:solidFill>
                <a:latin typeface="Calibri"/>
              </a:defRPr>
            </a:pPr>
            <a:r>
              <a:t>w·t = 0.37 at t=3.5yr (2013) — exactly 1/e, maximum entropy</a:t>
            </a: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Peak speculative uncertainty. "Will Bitcoin survive?" is maximally uncertain.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E74C3C"/>
                </a:solidFill>
                <a:latin typeface="Calibri"/>
              </a:defRPr>
            </a:pPr>
            <a:r>
              <a:t>w·t = 1.0 at t=9.5yr (2019) — adoption resolved</a:t>
            </a: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Log-periodic oscillations go to zero. The speculative era ends.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5DADE2"/>
                </a:solidFill>
                <a:latin typeface="Calibri"/>
              </a:defRPr>
            </a:pPr>
            <a:r>
              <a:t>w·t = 1.68 at t=16yr (now) — well past the zero crossing</a:t>
            </a: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Current price dynamics driven by halving cycle, not speculation.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0">
                <a:solidFill>
                  <a:srgbClr val="EEEEEE"/>
                </a:solidFill>
                <a:latin typeface="Calibri"/>
              </a:defRPr>
            </a:pPr>
            <a:r>
              <a:t>The log-periodic signal was an artifact of the "will it survive?" era.</a:t>
            </a: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The mathematical form is literally the entropy function, and the fitted parameters</a:t>
            </a:r>
          </a:p>
          <a:p>
            <a:pPr>
              <a:defRPr sz="1400" b="0">
                <a:solidFill>
                  <a:srgbClr val="888888"/>
                </a:solidFill>
                <a:latin typeface="Calibri"/>
              </a:defRPr>
            </a:pPr>
            <a:r>
              <a:t>put maximum entropy right at the peak of early Bitcoin speculation.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Bitcoin Cycles Aren't Smooth Sinusoids</a:t>
            </a:r>
          </a:p>
        </p:txBody>
      </p:sp>
      <p:pic>
        <p:nvPicPr>
          <p:cNvPr id="4" name="Picture 3" descr="wave_sha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43351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8463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Triangle + flat-top waves beat sinusoidal by ~1,000 BIC (with 1 extra param)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Mixed-shape dictionary (5 wave types × 2 time bases): R²=0.997 at 27 params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Flat-top dominates selection (10/25 terms) — Bitcoin has plateau-like peaks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Triangle wave at ω=7.4 was #1 novel selection — log-periodic peaks are sharper than sinusoidal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Bubble Shapes Are Maturing</a:t>
            </a:r>
          </a:p>
        </p:txBody>
      </p:sp>
      <p:pic>
        <p:nvPicPr>
          <p:cNvPr id="4" name="Picture 3" descr="bubble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52835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Duration widening: 0.87yr (2011) → 5.39yr (2024) — statistically significant (p=0.012)</a:t>
            </a:r>
          </a:p>
          <a:p>
            <a:pPr>
              <a:defRPr sz="1400" b="1">
                <a:solidFill>
                  <a:srgbClr val="EEEEEE"/>
                </a:solidFill>
                <a:latin typeface="Calibri"/>
              </a:defRPr>
            </a:pPr>
            <a:r>
              <a:t>Amplitude shrinking: each cycle ~20% smaller (p=0.016)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Interpretation: as participant base grows, speculative excess distributes over longer periods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Greedy Select: Entropy Damping Dominates</a:t>
            </a:r>
          </a:p>
        </p:txBody>
      </p:sp>
      <p:pic>
        <p:nvPicPr>
          <p:cNvPr id="4" name="Picture 3" descr="greedy_dam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63973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0292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467-function dictionary: entropy-damped, power-law-damped, undamped, EPPL components</a:t>
            </a:r>
          </a:p>
          <a:p>
            <a:pPr>
              <a:defRPr sz="1400" b="1">
                <a:solidFill>
                  <a:srgbClr val="F7931A"/>
                </a:solidFill>
                <a:latin typeface="Calibri"/>
              </a:defRPr>
            </a:pPr>
            <a:r>
              <a:t>Entropy selected 16 of 24 terms. Power-law selected ZERO when entropy available.</a:t>
            </a: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7-param model: R²=0.9935, BIC=-23,886 — best BIC at 7 params across ALL models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Model Comparison: BIC Efficiency</a:t>
            </a:r>
          </a:p>
        </p:txBody>
      </p:sp>
      <p:pic>
        <p:nvPicPr>
          <p:cNvPr id="4" name="Picture 3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48518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486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BIC penalizes extra parameters — lower BIC = better fit per parameter</a:t>
            </a: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Greedy v2 (7p) beats PCA (7p) and EPPL 2+2 (16p) — entropy basis is most efficient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Implications for Bitcoin's Future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000" b="1">
                <a:solidFill>
                  <a:srgbClr val="EEEEEE"/>
                </a:solidFill>
                <a:latin typeface="Calibri"/>
              </a:defRPr>
            </a:pPr>
            <a:r>
              <a:t>The power law trend (β≈5.1) continues — this is structural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000" b="1">
                <a:solidFill>
                  <a:srgbClr val="5DADE2"/>
                </a:solidFill>
                <a:latin typeface="Calibri"/>
              </a:defRPr>
            </a:pPr>
            <a:r>
              <a:t>The halving cycle (~3.6yr) persists undamped — expect continued cyclicality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000" b="1">
                <a:solidFill>
                  <a:srgbClr val="F7931A"/>
                </a:solidFill>
                <a:latin typeface="Calibri"/>
              </a:defRPr>
            </a:pPr>
            <a:r>
              <a:t>But: each cycle is 20% smaller in amplitude and wider in duration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000" b="1">
                <a:solidFill>
                  <a:srgbClr val="E74C3C"/>
                </a:solidFill>
                <a:latin typeface="Calibri"/>
              </a:defRPr>
            </a:pPr>
            <a:r>
              <a:t>The era of 10×+ speculative spikes is over</a:t>
            </a:r>
          </a:p>
          <a:p>
            <a:pPr lvl="1">
              <a:defRPr sz="1600" b="0">
                <a:solidFill>
                  <a:srgbClr val="888888"/>
                </a:solidFill>
                <a:latin typeface="Calibri"/>
              </a:defRPr>
            </a:pPr>
            <a:r>
              <a:t>Entropy says adoption uncertainty is resolved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0">
                <a:solidFill>
                  <a:srgbClr val="EEEEEE"/>
                </a:solidFill>
                <a:latin typeface="Calibri"/>
              </a:defRPr>
            </a:pPr>
            <a:r>
              <a:t>Future cycles resemble normal asset class behavior with halving-driven periodicity</a:t>
            </a:r>
          </a:p>
          <a:p>
            <a:pPr lvl="1">
              <a:defRPr sz="1600" b="0">
                <a:solidFill>
                  <a:srgbClr val="888888"/>
                </a:solidFill>
                <a:latin typeface="Calibri"/>
              </a:defRPr>
            </a:pPr>
            <a:r>
              <a:t>Projected: Cycle 7 (~2032) peak ~$465K, Cycle 8 (~2035) peak ~$818K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Tools and Reproducibility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200" b="1">
                <a:solidFill>
                  <a:srgbClr val="F7931A"/>
                </a:solidFill>
                <a:latin typeface="Calibri"/>
              </a:defRPr>
            </a:pPr>
            <a:r>
              <a:t>Interactive exploration: quantoshi.xyz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9 tabs: Price &amp; Model Overlays, CAGR Heatmap, DCA, Retirement, Supercharger,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Citadel Planner, Stack Tracker, Model Info, FAQ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0">
                <a:solidFill>
                  <a:srgbClr val="EEEEEE"/>
                </a:solidFill>
                <a:latin typeface="Calibri"/>
              </a:defRPr>
            </a:pPr>
            <a:r>
              <a:t>Configuration panels: HybPPL (36 configs), EPPL (36 configs), LPPL (10 variants)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Two-model comparison (A/B) for side-by-side exploration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0">
                <a:solidFill>
                  <a:srgbClr val="EEEEEE"/>
                </a:solidFill>
                <a:latin typeface="Calibri"/>
              </a:defRPr>
            </a:pPr>
            <a:r>
              <a:t>Static analysis pages: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/B: Sensitivity sweep  |  /D: Residual FFT  |  /G: Wave basis comparison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/H: Genesis date sweep  |  /E: Regime shift analysis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800" b="1">
                <a:solidFill>
                  <a:srgbClr val="2ECC71"/>
                </a:solidFill>
                <a:latin typeface="Calibri"/>
              </a:defRPr>
            </a:pPr>
            <a:r>
              <a:t>Open source: github.com/bg002h/quantoshi</a:t>
            </a:r>
          </a:p>
          <a:p>
            <a:pPr lvl="1">
              <a:defRPr sz="1500" b="0">
                <a:solidFill>
                  <a:srgbClr val="888888"/>
                </a:solidFill>
                <a:latin typeface="Calibri"/>
              </a:defRPr>
            </a:pPr>
            <a:r>
              <a:t>Model Info tab (/8): complete formulas, coefficients, methodology for every model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45720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EEEEE"/>
                </a:solidFill>
                <a:latin typeface="Calibri"/>
              </a:defRPr>
            </a:pPr>
            <a:r>
              <a:t>Summary: Three Sentences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000" b="1">
                <a:solidFill>
                  <a:srgbClr val="EEEEEE"/>
                </a:solidFill>
                <a:latin typeface="Calibri"/>
              </a:defRPr>
            </a:pPr>
            <a:r>
              <a:t>1.  Bitcoin has exactly two oscillatory structures — a log-periodic speculative signal</a:t>
            </a:r>
          </a:p>
          <a:p>
            <a:pPr>
              <a:defRPr sz="2000" b="0">
                <a:solidFill>
                  <a:srgbClr val="EEEEEE"/>
                </a:solidFill>
                <a:latin typeface="Calibri"/>
              </a:defRPr>
            </a:pPr>
            <a:r>
              <a:t>     and a calendar halving cycle — confirmed independently by PCA, EMD, and DMD.</a:t>
            </a:r>
          </a:p>
          <a:p>
            <a:pPr>
              <a:defRPr sz="12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000" b="1">
                <a:solidFill>
                  <a:srgbClr val="F7931A"/>
                </a:solidFill>
                <a:latin typeface="Calibri"/>
              </a:defRPr>
            </a:pPr>
            <a:r>
              <a:t>2.  The speculative signal peaked in 2013 and is now extinct, as captured by</a:t>
            </a:r>
          </a:p>
          <a:p>
            <a:pPr>
              <a:defRPr sz="2000" b="0">
                <a:solidFill>
                  <a:srgbClr val="F7931A"/>
                </a:solidFill>
                <a:latin typeface="Calibri"/>
              </a:defRPr>
            </a:pPr>
            <a:r>
              <a:t>     Shannon entropy damping — the first information-theoretic model of Bitcoin.</a:t>
            </a:r>
          </a:p>
          <a:p>
            <a:pPr>
              <a:defRPr sz="12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2000" b="1">
                <a:solidFill>
                  <a:srgbClr val="5DADE2"/>
                </a:solidFill>
                <a:latin typeface="Calibri"/>
              </a:defRPr>
            </a:pPr>
            <a:r>
              <a:t>3.  Future price behavior: power law trend + flattening, amplitude-shrinking</a:t>
            </a:r>
          </a:p>
          <a:p>
            <a:pPr>
              <a:defRPr sz="2000" b="0">
                <a:solidFill>
                  <a:srgbClr val="5DADE2"/>
                </a:solidFill>
                <a:latin typeface="Calibri"/>
              </a:defRPr>
            </a:pPr>
            <a:r>
              <a:t>     halving cycle — the mathematical signature of market maturation.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Model Robustness: Frequency, Volatility,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11430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2ECC71"/>
                </a:solidFill>
                <a:latin typeface="Calibri"/>
              </a:defRPr>
            </a:pPr>
            <a:r>
              <a:t>Time-varying frequency: ω₁ = -0.056 ≈ 0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The log-periodic frequency is constant — not drifting. Fixed-ω assumption validated.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5DADE2"/>
                </a:solidFill>
                <a:latin typeface="Calibri"/>
              </a:defRPr>
            </a:pPr>
            <a:r>
              <a:t>Heteroscedastic volatility: σ(t) = 0.077·t⁻⁰·¹⁹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Windowed σ: 0.150 (2010-13) → 0.109 (2013-17) → 0.139 (2017-21) → 0.092 (2021-26)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Early era is 1.5× more volatile — should use time-dependent quantile bands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Multi-scale self-similarity:</a:t>
            </a:r>
          </a:p>
          <a:p>
            <a:pPr lvl="1">
              <a:defRPr sz="1300" b="0">
                <a:solidFill>
                  <a:srgbClr val="EEEEEE"/>
                </a:solidFill>
                <a:latin typeface="Calibri"/>
              </a:defRPr>
            </a:pPr>
            <a:r>
              <a:t>Daily β=5.08  |  Weekly β=5.09  |  Monthly β=5.12  |  Quarterly β=5.18  |  Yearly β=5.34</a:t>
            </a:r>
          </a:p>
          <a:p>
            <a:pPr lvl="1">
              <a:defRPr sz="1300" b="0">
                <a:solidFill>
                  <a:srgbClr val="2ECC71"/>
                </a:solidFill>
                <a:latin typeface="Calibri"/>
              </a:defRPr>
            </a:pPr>
            <a:r>
              <a:t>R² &gt; 0.96 at every resolution. The power law holds from daily to yearly.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Slight β increase at coarser scales: aggregation removes downside volatility.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Cross-Validation: Which Models Generalize?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11430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EEEEEE"/>
                </a:solidFill>
                <a:latin typeface="Calibri"/>
              </a:defRPr>
            </a:pPr>
            <a:r>
              <a:t>Test R² across 5 cutoff dates (train before, test after):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300" b="1">
                <a:solidFill>
                  <a:srgbClr val="F7931A"/>
                </a:solidFill>
                <a:latin typeface="Calibri"/>
              </a:defRPr>
            </a:pPr>
            <a:r>
              <a:t>Model            2020-26  2021-26  2022-26  2023-26  2024-26</a:t>
            </a:r>
          </a:p>
          <a:p>
            <a:pPr>
              <a:defRPr sz="1100" b="0">
                <a:solidFill>
                  <a:srgbClr val="888888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─────────────────────────────────────────────────────────────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Power Law (3p)    0.60     0.08     0.57     0.64     0.35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HybPPL (9p)       0.42     0.19     0.71     0.63     0.42</a:t>
            </a:r>
          </a:p>
          <a:p>
            <a:pPr>
              <a:defRPr sz="1300" b="1">
                <a:solidFill>
                  <a:srgbClr val="2ECC71"/>
                </a:solidFill>
                <a:latin typeface="Calibri"/>
              </a:defRPr>
            </a:pPr>
            <a:r>
              <a:t>EPPL 1d+1u (9p)   0.62     0.64     0.71     0.65    -0.43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2ECC71"/>
                </a:solidFill>
                <a:latin typeface="Calibri"/>
              </a:defRPr>
            </a:pPr>
            <a:r>
              <a:t>Key finding: EPPL generalizes best across most splits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The entropy zero-crossing prevents dead oscillations from propagating forward</a:t>
            </a:r>
          </a:p>
          <a:p>
            <a:pPr lvl="1">
              <a:defRPr sz="1300" b="0">
                <a:solidFill>
                  <a:srgbClr val="E74C3C"/>
                </a:solidFill>
                <a:latin typeface="Calibri"/>
              </a:defRPr>
            </a:pPr>
            <a:r>
              <a:t>HybPPL collapses at 2021 cutoff (0.19) — power-law-damped oscillations persist too long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E74C3C"/>
                </a:solidFill>
                <a:latin typeface="Calibri"/>
              </a:defRPr>
            </a:pPr>
            <a:r>
              <a:t>All models overfit: train R²≈0.99 vs test R²≈0.64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Post-2023 ETF dynamics don't follow historical oscillatory patterns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Asymmetric Damping + Quantile-Specific Oscillations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11430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Asymmetric oscillations: falls damp 3.5× faster than rises</a:t>
            </a:r>
          </a:p>
          <a:p>
            <a:pPr lvl="1">
              <a:defRPr sz="1300" b="0">
                <a:solidFill>
                  <a:srgbClr val="EEEEEE"/>
                </a:solidFill>
                <a:latin typeface="Calibri"/>
              </a:defRPr>
            </a:pPr>
            <a:r>
              <a:t>D_rise = 0.56  vs  D_fall = 2.00  (hit constraint bound)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FOMO builds slowly, panic resolves quickly — BIC improves by 120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5DADE2"/>
                </a:solidFill>
                <a:latin typeface="Calibri"/>
              </a:defRPr>
            </a:pPr>
            <a:r>
              <a:t>Quantile-specific structure:</a:t>
            </a:r>
          </a:p>
          <a:p>
            <a:pPr lvl="1">
              <a:defRPr sz="1400" b="0">
                <a:solidFill>
                  <a:srgbClr val="EEEEEE"/>
                </a:solidFill>
                <a:latin typeface="Calibri"/>
              </a:defRPr>
            </a:pPr>
            <a:r>
              <a:t>Log-periodic amplitude scales with quantile:</a:t>
            </a:r>
          </a:p>
          <a:p>
            <a:pPr lvl="1">
              <a:defRPr sz="1300" b="0">
                <a:solidFill>
                  <a:srgbClr val="EEEEEE"/>
                </a:solidFill>
                <a:latin typeface="Calibri"/>
              </a:defRPr>
            </a:pPr>
            <a:r>
              <a:t>   Q5% (floor): C=0.07  →  Q50%: C=0.15  →  Q95% (peaks): C=0.27</a:t>
            </a:r>
          </a:p>
          <a:p>
            <a:pPr lvl="1">
              <a:defRPr sz="1300" b="0">
                <a:solidFill>
                  <a:srgbClr val="2ECC71"/>
                </a:solidFill>
                <a:latin typeface="Calibri"/>
              </a:defRPr>
            </a:pPr>
            <a:r>
              <a:t>   Upper quantiles oscillate 4× larger than the floor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 lvl="1">
              <a:defRPr sz="1400" b="0">
                <a:solidFill>
                  <a:srgbClr val="EEEEEE"/>
                </a:solidFill>
                <a:latin typeface="Calibri"/>
              </a:defRPr>
            </a:pPr>
            <a:r>
              <a:t>Power law slope varies by quantile:</a:t>
            </a:r>
          </a:p>
          <a:p>
            <a:pPr lvl="1">
              <a:defRPr sz="1300" b="0">
                <a:solidFill>
                  <a:srgbClr val="EEEEEE"/>
                </a:solidFill>
                <a:latin typeface="Calibri"/>
              </a:defRPr>
            </a:pPr>
            <a:r>
              <a:t>   Q5%: β=5.41 (steep floor)  →  Q95%: β=4.87 (flatter peaks)</a:t>
            </a:r>
          </a:p>
          <a:p>
            <a:pPr lvl="1">
              <a:defRPr sz="1300" b="0">
                <a:solidFill>
                  <a:srgbClr val="2ECC71"/>
                </a:solidFill>
                <a:latin typeface="Calibri"/>
              </a:defRPr>
            </a:pPr>
            <a:r>
              <a:t>   The floor grows faster than the peaks — volatility compression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Calendar oscillation amplitude is roughly constant (~0.24) across all quantiles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Wavelet Scalogram</a:t>
            </a:r>
          </a:p>
        </p:txBody>
      </p:sp>
      <p:pic>
        <p:nvPicPr>
          <p:cNvPr id="4" name="Picture 3" descr="wavelet_scal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48524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2ECC71"/>
                </a:solidFill>
                <a:latin typeface="Calibri"/>
              </a:defRPr>
            </a:pPr>
            <a:r>
              <a:t>Halving cycle (T≈3.6yr) overwhelmingly dominant across all time and scale</a:t>
            </a:r>
          </a:p>
          <a:p>
            <a:pPr>
              <a:defRPr sz="1300" b="0">
                <a:solidFill>
                  <a:srgbClr val="888888"/>
                </a:solidFill>
                <a:latin typeface="Calibri"/>
              </a:defRPr>
            </a:pPr>
            <a:r>
              <a:t>Early era power is 2× late era — oscillations fading (supports entropy model)</a:t>
            </a:r>
          </a:p>
          <a:p>
            <a:pPr>
              <a:defRPr sz="1300" b="0">
                <a:solidFill>
                  <a:srgbClr val="EEEEEE"/>
                </a:solidFill>
                <a:latin typeface="Calibri"/>
              </a:defRPr>
            </a:pPr>
            <a:r>
              <a:t>Log-periodic invisible: it's a chirp in calendar time (T varies from 1.7yr to 13.6yr with t)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Symbolic Regression: Machine Discovers the Power Law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11430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PySR (genetic programming) searched for log₁₀(price) = f(t)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Available operations: +, -, ×, ÷, log, cos, sin, exp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500 subsampled points, 40 iterations, complexity up to 25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Best equation (complexity=6):</a:t>
            </a:r>
          </a:p>
          <a:p>
            <a:pPr>
              <a:defRPr sz="1500" b="1">
                <a:solidFill>
                  <a:srgbClr val="2ECC71"/>
                </a:solidFill>
                <a:latin typeface="Calibri"/>
              </a:defRPr>
            </a:pPr>
            <a:r>
              <a:t>   log₁₀(price) = 2.174·ln(t) − 1.097  =  5.01·log₁₀(t) − 1.10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This IS the power law — β≈5.01, discovered from scratch with zero assumptions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R² = 0.962 on full data (same as our fitted power law)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Higher-complexity equations found cosine terms (complexity ≥ 15)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but with minimal improvement — confirming oscillations are secondary to the trend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E74C3C"/>
                </a:solidFill>
                <a:latin typeface="Calibri"/>
              </a:defRPr>
            </a:pPr>
            <a:r>
              <a:t>Genesis date is an INPUT, not discovered — PySR cannot find log(year − 2009.56)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from raw calendar year (finds linear fit instead, R²=0.87)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7931A"/>
                </a:solidFill>
                <a:latin typeface="Calibri"/>
              </a:defRPr>
            </a:pPr>
            <a:r>
              <a:t>Fourier Extrapolation: 5-Year Forward Projection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11430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0">
                <a:solidFill>
                  <a:srgbClr val="EEEEEE"/>
                </a:solidFill>
                <a:latin typeface="Calibri"/>
              </a:defRPr>
            </a:pPr>
            <a:r>
              <a:t>Remove power law trend, FFT the residuals, keep top 20 modes, project forward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R² = 0.923 on historical residuals (20 modes)</a:t>
            </a:r>
          </a:p>
          <a:p>
            <a:pPr>
              <a:defRPr sz="6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F7931A"/>
                </a:solidFill>
                <a:latin typeface="Calibri"/>
              </a:defRPr>
            </a:pPr>
            <a:r>
              <a:t>Projected prices (power law + Fourier residuals):</a:t>
            </a:r>
          </a:p>
          <a:p>
            <a:pPr>
              <a:defRPr sz="4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400" b="1">
                <a:solidFill>
                  <a:srgbClr val="5DADE2"/>
                </a:solidFill>
                <a:latin typeface="Calibri"/>
              </a:defRPr>
            </a:pPr>
            <a:r>
              <a:t>Year        Price      Interpretation</a:t>
            </a:r>
          </a:p>
          <a:p>
            <a:pPr>
              <a:defRPr sz="1200" b="0">
                <a:solidFill>
                  <a:srgbClr val="888888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2027-04    $724,114    Cycle peak?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2028-03     $85,292    Post-peak crash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2029-03    $294,282    Recovery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2030-03    $676,513    Next peak?</a:t>
            </a:r>
          </a:p>
          <a:p>
            <a:pPr>
              <a:defRPr sz="1400" b="0">
                <a:solidFill>
                  <a:srgbClr val="EEEEEE"/>
                </a:solidFill>
                <a:latin typeface="Calibri"/>
              </a:defRPr>
            </a:pPr>
            <a:r>
              <a:t>2031-03    $157,485    Next crash</a:t>
            </a:r>
          </a:p>
          <a:p>
            <a:pPr>
              <a:defRPr sz="800" b="0">
                <a:solidFill>
                  <a:srgbClr val="EEEEEE"/>
                </a:solidFill>
                <a:latin typeface="Calibri"/>
              </a:defRPr>
            </a:pPr>
          </a:p>
          <a:p>
            <a:pPr>
              <a:defRPr sz="1600" b="1">
                <a:solidFill>
                  <a:srgbClr val="E74C3C"/>
                </a:solidFill>
                <a:latin typeface="Calibri"/>
              </a:defRPr>
            </a:pPr>
            <a:r>
              <a:t>⚠ Caveat: Fourier extrapolation has NO damping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Projects historical oscillation amplitudes unchanged into the future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Real cycles are fading (entropy/damping) — these projections are too volatile</a:t>
            </a:r>
          </a:p>
          <a:p>
            <a:pPr lvl="1">
              <a:defRPr sz="1300" b="0">
                <a:solidFill>
                  <a:srgbClr val="888888"/>
                </a:solidFill>
                <a:latin typeface="Calibri"/>
              </a:defRPr>
            </a:pPr>
            <a:r>
              <a:t>Useful for showing cyclical structure, NOT for reliable price targets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Rect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Ninth Test: BM Floor-Subset Sweep (Bubbles Excluded)</a:t>
            </a:r>
          </a:p>
        </p:txBody>
      </p:sp>
      <p:pic>
        <p:nvPicPr>
          <p:cNvPr id="4" name="Picture 3" descr="sweep_t0_flo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486400" cy="5669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35040" y="914400"/>
            <a:ext cx="59436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E1E1E"/>
                </a:solidFill>
              </a:rPr>
              <a:t>Methodology — price floor only, bubbles excluded by construction:</a:t>
            </a:r>
          </a:p>
          <a:p>
            <a:r>
              <a:rPr sz="1300">
                <a:solidFill>
                  <a:srgbClr val="1E1E1E"/>
                </a:solidFill>
              </a:rPr>
              <a:t>  1. OLS fit on all data (t &gt; 1 yr).</a:t>
            </a:r>
          </a:p>
          <a:p>
            <a:r>
              <a:rPr sz="1300">
                <a:solidFill>
                  <a:srgbClr val="1E1E1E"/>
                </a:solidFill>
              </a:rPr>
              <a:t>  2. Keep bottom 20% of OLS residuals → support subset.</a:t>
            </a:r>
          </a:p>
          <a:p>
            <a:r>
              <a:rPr sz="1300">
                <a:solidFill>
                  <a:srgbClr val="1E1E1E"/>
                </a:solidFill>
              </a:rPr>
              <a:t>  3. QuantReg q=0.5 on the support subset → floor line.</a:t>
            </a:r>
          </a:p>
          <a:p>
            <a:r>
              <a:rPr sz="1300">
                <a:solidFill>
                  <a:srgbClr val="1E1E1E"/>
                </a:solidFill>
              </a:rPr>
              <a:t>  4. R² and σ computed against floor subset only.</a:t>
            </a:r>
          </a:p>
          <a:p>
            <a:r>
              <a:rPr sz="1300">
                <a:solidFill>
                  <a:srgbClr val="1E1E1E"/>
                </a:solidFill>
              </a:rPr>
              <a:t/>
            </a:r>
          </a:p>
          <a:p>
            <a:r>
              <a:rPr sz="1300" b="1">
                <a:solidFill>
                  <a:srgbClr val="1E1E1E"/>
                </a:solidFill>
              </a:rPr>
              <a:t>Findings at the canonical t₀ = 2009-07-25:</a:t>
            </a:r>
          </a:p>
          <a:p>
            <a:r>
              <a:rPr sz="1300">
                <a:solidFill>
                  <a:srgbClr val="1E1E1E"/>
                </a:solidFill>
              </a:rPr>
              <a:t>  • β_floor = 5.11 (matches all-data OLS β = 5.10)</a:t>
            </a:r>
          </a:p>
          <a:p>
            <a:r>
              <a:rPr sz="1300">
                <a:solidFill>
                  <a:srgbClr val="1E1E1E"/>
                </a:solidFill>
              </a:rPr>
              <a:t>  • σ_floor = 0.042 (vs σ_all-data = 0.30 — 7× smaller)</a:t>
            </a:r>
          </a:p>
          <a:p>
            <a:r>
              <a:rPr sz="1300">
                <a:solidFill>
                  <a:srgbClr val="1E1E1E"/>
                </a:solidFill>
              </a:rPr>
              <a:t>  • R²_floor = 0.995</a:t>
            </a:r>
          </a:p>
          <a:p>
            <a:r>
              <a:rPr sz="1300">
                <a:solidFill>
                  <a:srgbClr val="1E1E1E"/>
                </a:solidFill>
              </a:rPr>
              <a:t/>
            </a:r>
          </a:p>
          <a:p>
            <a:r>
              <a:rPr sz="1300" b="1">
                <a:solidFill>
                  <a:srgbClr val="1E1E1E"/>
                </a:solidFill>
              </a:rPr>
              <a:t>Optimum on this test:</a:t>
            </a:r>
          </a:p>
          <a:p>
            <a:r>
              <a:rPr sz="1300">
                <a:solidFill>
                  <a:srgbClr val="1E1E1E"/>
                </a:solidFill>
              </a:rPr>
              <a:t>  • Argmax R²_floor: 2009-03-02  (−145 days, ~5 months earlier)</a:t>
            </a:r>
          </a:p>
          <a:p>
            <a:r>
              <a:rPr sz="1300">
                <a:solidFill>
                  <a:srgbClr val="1E1E1E"/>
                </a:solidFill>
              </a:rPr>
              <a:t>  • R²_floor at optimum: 0.9953   (canonical: 0.9949)</a:t>
            </a:r>
          </a:p>
          <a:p>
            <a:r>
              <a:rPr sz="1300">
                <a:solidFill>
                  <a:srgbClr val="1E1E1E"/>
                </a:solidFill>
              </a:rPr>
              <a:t/>
            </a:r>
          </a:p>
          <a:p>
            <a:r>
              <a:rPr sz="1300" b="1">
                <a:solidFill>
                  <a:srgbClr val="1E1E1E"/>
                </a:solidFill>
              </a:rPr>
              <a:t>Note on σ_floor argmin (2014-01-27, confounded):</a:t>
            </a:r>
          </a:p>
          <a:p>
            <a:r>
              <a:rPr sz="1300">
                <a:solidFill>
                  <a:srgbClr val="1E1E1E"/>
                </a:solidFill>
              </a:rPr>
              <a:t>  • σ mechanically shrinks as the floor subset thins.</a:t>
            </a:r>
          </a:p>
          <a:p>
            <a:r>
              <a:rPr sz="1300">
                <a:solidFill>
                  <a:srgbClr val="1E1E1E"/>
                </a:solidFill>
              </a:rPr>
              <a:t>  • Don't trust the late-t₀ σ_floor minimum — it's an</a:t>
            </a:r>
          </a:p>
          <a:p>
            <a:r>
              <a:rPr sz="1300">
                <a:solidFill>
                  <a:srgbClr val="1E1E1E"/>
                </a:solidFill>
              </a:rPr>
              <a:t>    artifact of subset-size shrinkage, not a better fit.</a:t>
            </a:r>
          </a:p>
          <a:p>
            <a:r>
              <a:rPr sz="1300">
                <a:solidFill>
                  <a:srgbClr val="1E1E1E"/>
                </a:solidFill>
              </a:rPr>
              <a:t>  • R²_floor is the robust metric.</a:t>
            </a:r>
          </a:p>
          <a:p>
            <a:r>
              <a:rPr sz="1300">
                <a:solidFill>
                  <a:srgbClr val="1E1E1E"/>
                </a:solidFill>
              </a:rPr>
              <a:t/>
            </a:r>
          </a:p>
          <a:p>
            <a:r>
              <a:rPr sz="1300" b="1">
                <a:solidFill>
                  <a:srgbClr val="1E1E1E"/>
                </a:solidFill>
              </a:rPr>
              <a:t>Convergence across three independent tests:</a:t>
            </a:r>
          </a:p>
          <a:p>
            <a:r>
              <a:rPr sz="1300">
                <a:solidFill>
                  <a:srgbClr val="1E1E1E"/>
                </a:solidFill>
              </a:rPr>
              <a:t>  • OOS 2015 holdout     → +107 days (after canonical)</a:t>
            </a:r>
          </a:p>
          <a:p>
            <a:r>
              <a:rPr sz="1300">
                <a:solidFill>
                  <a:srgbClr val="1E1E1E"/>
                </a:solidFill>
              </a:rPr>
              <a:t>  • OOS 2016-12 holdout  → −124 days</a:t>
            </a:r>
          </a:p>
          <a:p>
            <a:r>
              <a:rPr sz="1300">
                <a:solidFill>
                  <a:srgbClr val="1E1E1E"/>
                </a:solidFill>
              </a:rPr>
              <a:t>  • Floor R²_floor argmax → −145 days</a:t>
            </a:r>
          </a:p>
          <a:p>
            <a:r>
              <a:rPr sz="1300">
                <a:solidFill>
                  <a:srgbClr val="1E1E1E"/>
                </a:solidFill>
              </a:rPr>
              <a:t>  All three inside a ±5-month envelope; canonical is the midpoint.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